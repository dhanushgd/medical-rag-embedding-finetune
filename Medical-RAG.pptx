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Hoves" charset="1" panose="02000003020000060003"/>
      <p:regular r:id="rId14"/>
    </p:embeddedFont>
    <p:embeddedFont>
      <p:font typeface="TT Hoves Bold" charset="1" panose="020000030200000600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19793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0769" y="1253964"/>
            <a:ext cx="9033036" cy="9033036"/>
          </a:xfrm>
          <a:custGeom>
            <a:avLst/>
            <a:gdLst/>
            <a:ahLst/>
            <a:cxnLst/>
            <a:rect r="r" b="b" t="t" l="l"/>
            <a:pathLst>
              <a:path h="9033036" w="9033036">
                <a:moveTo>
                  <a:pt x="0" y="0"/>
                </a:moveTo>
                <a:lnTo>
                  <a:pt x="9033036" y="0"/>
                </a:lnTo>
                <a:lnTo>
                  <a:pt x="9033036" y="9033036"/>
                </a:lnTo>
                <a:lnTo>
                  <a:pt x="0" y="9033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41857"/>
            <a:ext cx="16882856" cy="187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3"/>
              </a:lnSpc>
            </a:pPr>
            <a:r>
              <a:rPr lang="en-US" sz="7599" spc="-372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                                   Medical-RAG</a:t>
            </a:r>
          </a:p>
          <a:p>
            <a:pPr algn="l">
              <a:lnSpc>
                <a:spcPts val="714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575822" y="3476861"/>
            <a:ext cx="16882856" cy="781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3200" spc="-156" b="true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Eliminating Hallucinations with Domain-Specific </a:t>
            </a:r>
          </a:p>
          <a:p>
            <a:pPr algn="l">
              <a:lnSpc>
                <a:spcPts val="3008"/>
              </a:lnSpc>
            </a:pP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Embeddings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495" y="2263456"/>
            <a:ext cx="16882856" cy="10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b="true" sz="8599" spc="-42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8702" y="3792806"/>
            <a:ext cx="16882856" cy="3448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The Challenge: Standard RAG systems often fail in specialized fields like medicine due to "Generic Retrieval."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Finding Facts vs. Words: Most models find similar words, but medical AI requires finding precise clinical facts.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The Solution: Fine-tuning a BERT-based embedding model to align vector space with clinical nomenclature.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The Result: A quantifiable 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23.67%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reduction in LLM hallucinations.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Project Scope: An end-to-end pipeline from LoRA fine-tuning to RAGAS automated auditing.</a:t>
            </a:r>
          </a:p>
          <a:p>
            <a:pPr algn="l">
              <a:lnSpc>
                <a:spcPts val="300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495" y="2263456"/>
            <a:ext cx="16882856" cy="10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b="true" sz="8599" spc="-42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8702" y="3602306"/>
            <a:ext cx="16882856" cy="382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Domain Adaptation: Adjust the 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all-MiniLM-L6-v2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model to understand complex 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PubMed 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medical triplets.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Optim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ized Training: Utilize 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Unsloth 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AI for 2x faster, memory-efficient LoRA fine-tuning on a single T4 GPU.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Retrieval Accuracy: Improve the "Hit Rate" of documents to ensure the LLM receives the most relevant context.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Local Inference: Build a fully private RAG pipeline using 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Ollama 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(Llama 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3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) for data security.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Automated Validation: Establish a mathematical baseline for "Truthfulness" using the 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RAGAS 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framework.</a:t>
            </a:r>
          </a:p>
          <a:p>
            <a:pPr algn="l">
              <a:lnSpc>
                <a:spcPts val="300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495" y="2263456"/>
            <a:ext cx="16882856" cy="10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b="true" sz="8599" spc="-42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Technical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572" y="3553553"/>
            <a:ext cx="16882856" cy="268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Fine-Tuning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Unsloth AI (PEFT/LoRA) for high-speed embedding o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ptim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ization.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Base Model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unsloth/all-MiniLM-L6-v2 (BERT-based architecture).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Inference Engine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Ollama (Running Llama 3 8B locally).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Vector Database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FAISS (Facebook AI Similarity Search) for high-dimensional indexing.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Evaluation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RAGAS (Retrieval-Augmented Generation Assessment Services).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Development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: Python, HuggingFace Transformers, and PyTorch.</a:t>
            </a:r>
          </a:p>
          <a:p>
            <a:pPr algn="l">
              <a:lnSpc>
                <a:spcPts val="300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698119" y="3357042"/>
            <a:ext cx="10498431" cy="5825403"/>
          </a:xfrm>
          <a:custGeom>
            <a:avLst/>
            <a:gdLst/>
            <a:ahLst/>
            <a:cxnLst/>
            <a:rect r="r" b="b" t="t" l="l"/>
            <a:pathLst>
              <a:path h="5825403" w="10498431">
                <a:moveTo>
                  <a:pt x="0" y="0"/>
                </a:moveTo>
                <a:lnTo>
                  <a:pt x="10498431" y="0"/>
                </a:lnTo>
                <a:lnTo>
                  <a:pt x="10498431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035" r="0" b="-100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572" y="1863485"/>
            <a:ext cx="16882856" cy="10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b="true" sz="8599" spc="-42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System Flow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495" y="2263456"/>
            <a:ext cx="16882856" cy="10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b="true" sz="8599" spc="-42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Evaluation &amp; Usecases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572" y="3553553"/>
            <a:ext cx="16882856" cy="268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The Metric: Achieved a 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0.69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 Faithfulness score, outperforming the generic baseline by 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23.67%.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Cl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in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ical Decision Support: Assisting doctors by retrieving precise peer-reviewed studies instantly.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edical Document QA: Automated analysis of patient information sheets and surgical journals.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Education &amp; Research: A tool for medical students to query complex datasets without AI "guessing."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Privacy-First AI: A template for healthcare organizations to run specialized AI locally without cloud API leaks.</a:t>
            </a:r>
          </a:p>
          <a:p>
            <a:pPr algn="l">
              <a:lnSpc>
                <a:spcPts val="300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495" y="2263456"/>
            <a:ext cx="16882856" cy="109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b="true" sz="8599" spc="-42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572" y="3553553"/>
            <a:ext cx="16882856" cy="268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Retrieval is the Anchor: An LLM is only as good as the context it is given.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Fine-Tuning is Necessary: Generic embeddings are insufficient for high-stakes industries like healthcare.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Cost 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Efficiency: Using LoRA and Unsloth allows for "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Pro-grade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" results on "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Consumer-grade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" hardware.</a:t>
            </a:r>
          </a:p>
          <a:p>
            <a:pPr algn="l" marL="690881" indent="-345440" lvl="1">
              <a:lnSpc>
                <a:spcPts val="3008"/>
              </a:lnSpc>
              <a:buFont typeface="Arial"/>
              <a:buChar char="•"/>
            </a:pP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ransparency: </a:t>
            </a:r>
            <a:r>
              <a:rPr lang="en-US" b="true" sz="3200" spc="-1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RAGAS </a:t>
            </a:r>
            <a:r>
              <a:rPr lang="en-US" sz="3200" spc="-156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provides the necessary "Audit Trail" to trust AI outputs in production.</a:t>
            </a:r>
          </a:p>
          <a:p>
            <a:pPr algn="l">
              <a:lnSpc>
                <a:spcPts val="300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0790" y="2862623"/>
            <a:ext cx="10598510" cy="208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18"/>
              </a:lnSpc>
            </a:pPr>
            <a:r>
              <a:rPr lang="en-US" b="true" sz="16402" spc="-80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DAGktj4JEWQ</dc:identifier>
  <dcterms:modified xsi:type="dcterms:W3CDTF">2011-08-01T06:04:30Z</dcterms:modified>
  <cp:revision>1</cp:revision>
  <dc:title>Blue and Green Modern Artificial Intelligence Presentation</dc:title>
</cp:coreProperties>
</file>